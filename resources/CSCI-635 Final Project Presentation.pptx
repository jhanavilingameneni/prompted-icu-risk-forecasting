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BA4EDA8-C76A-408F-9246-3DA719983473}">
  <a:tblStyle styleId="{2BA4EDA8-C76A-408F-9246-3DA7199834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10eedba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Jhanavi</a:t>
            </a:r>
            <a:endParaRPr/>
          </a:p>
        </p:txBody>
      </p:sp>
      <p:sp>
        <p:nvSpPr>
          <p:cNvPr id="58" name="Google Shape;58;g3b10eedbaf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76fa2f13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JHANAVI</a:t>
            </a:r>
            <a:endParaRPr/>
          </a:p>
        </p:txBody>
      </p:sp>
      <p:sp>
        <p:nvSpPr>
          <p:cNvPr id="64" name="Google Shape;64;g3976fa2f13c_0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10eedba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JHANAVI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b10eedbaf_0_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6c73ab93a_0_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6c73ab93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SARVESH</a:t>
            </a:r>
            <a:br>
              <a:rPr lang="en-US"/>
            </a:br>
            <a:r>
              <a:rPr lang="en-US"/>
              <a:t>Feature transforming: Z-Score, One Hot </a:t>
            </a:r>
            <a:br>
              <a:rPr lang="en-US"/>
            </a:br>
            <a:r>
              <a:rPr lang="en-US"/>
              <a:t>Feature engineering: mean, median, min, max, last, first, missing, delta, range, etc.</a:t>
            </a:r>
            <a:endParaRPr/>
          </a:p>
        </p:txBody>
      </p:sp>
      <p:sp>
        <p:nvSpPr>
          <p:cNvPr id="78" name="Google Shape;78;g3d6c73ab93a_0_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726f82fff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726f82ff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SARVESH</a:t>
            </a:r>
            <a:endParaRPr/>
          </a:p>
        </p:txBody>
      </p:sp>
      <p:sp>
        <p:nvSpPr>
          <p:cNvPr id="89" name="Google Shape;89;g3d726f82fff_0_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795b61a3d_0_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795b61a3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SARVESH</a:t>
            </a:r>
            <a:endParaRPr/>
          </a:p>
        </p:txBody>
      </p:sp>
      <p:sp>
        <p:nvSpPr>
          <p:cNvPr id="96" name="Google Shape;96;g39795b61a3d_0_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77b575b6d_1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77b575b6d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SARVESH</a:t>
            </a:r>
            <a:endParaRPr/>
          </a:p>
        </p:txBody>
      </p:sp>
      <p:sp>
        <p:nvSpPr>
          <p:cNvPr id="104" name="Google Shape;104;g3977b575b6d_1_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77b575b6d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77b575b6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SARVESH</a:t>
            </a:r>
            <a:endParaRPr/>
          </a:p>
        </p:txBody>
      </p:sp>
      <p:sp>
        <p:nvSpPr>
          <p:cNvPr id="111" name="Google Shape;111;g3977b575b6d_1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795b61a3d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795b61a3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JEAN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Hyperparameters tuned with RandomizedSearchCV. Only 1 hidden layer with 10 units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Initial evaluation showed a lot of underfitting. Realized it was because the time series context was lost. Added aggregate *_first, *_last, *_range, *_delta to preserve some temporal context.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Then it was overfitting and had to aggressively control it with regularizers.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Finally, predictions were poorly calibrated had to use IsotonicCalibration to smooth out the the noisy trend.</a:t>
            </a:r>
            <a:endParaRPr/>
          </a:p>
        </p:txBody>
      </p:sp>
      <p:sp>
        <p:nvSpPr>
          <p:cNvPr id="123" name="Google Shape;123;g39795b61a3d_0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JEAN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77705249c_2_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77705249c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JHANAVI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977705249c_2_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76fa2f13c_0_1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76fa2f13c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JHANAVI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976fa2f13c_0_15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726f82f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JHANAVI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d726f82fff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77705249c_2_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977705249c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SARVESH</a:t>
            </a:r>
            <a:endParaRPr/>
          </a:p>
        </p:txBody>
      </p:sp>
      <p:sp>
        <p:nvSpPr>
          <p:cNvPr id="166" name="Google Shape;166;g3977705249c_2_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795b61a3d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795b61a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SARVESH</a:t>
            </a:r>
            <a:endParaRPr/>
          </a:p>
        </p:txBody>
      </p:sp>
      <p:sp>
        <p:nvSpPr>
          <p:cNvPr id="173" name="Google Shape;173;g39795b61a3d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6c73ab93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SARVESH</a:t>
            </a:r>
            <a:endParaRPr/>
          </a:p>
        </p:txBody>
      </p:sp>
      <p:sp>
        <p:nvSpPr>
          <p:cNvPr id="179" name="Google Shape;179;g3d6c73ab93a_0_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77705249c_2_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977705249c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JEAN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HOSMER-LEMESHOW H-STATISTIC - SE2 - weight squared distance between actual and predicted frequencies - how far is it from perfect 45 degree angle of </a:t>
            </a:r>
            <a:r>
              <a:rPr lang="en-US"/>
              <a:t>calibration</a:t>
            </a:r>
            <a:r>
              <a:rPr lang="en-US"/>
              <a:t> curve</a:t>
            </a:r>
            <a:endParaRPr/>
          </a:p>
        </p:txBody>
      </p:sp>
      <p:sp>
        <p:nvSpPr>
          <p:cNvPr id="189" name="Google Shape;189;g3977705249c_2_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6c73ab93a_0_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6c73ab93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Jean</a:t>
            </a:r>
            <a:br>
              <a:rPr lang="en-US"/>
            </a:br>
            <a:r>
              <a:rPr lang="en-US"/>
              <a:t>RISK: 80; 30; 2; 5; 20; 90; 37.8; 100</a:t>
            </a:r>
            <a:br>
              <a:rPr lang="en-US"/>
            </a:br>
            <a:r>
              <a:rPr lang="en-US"/>
              <a:t>NO RISK: 30; 10; 70; 1.0; 15; 22.0; 70.0; 37.0; 800 </a:t>
            </a:r>
            <a:endParaRPr/>
          </a:p>
        </p:txBody>
      </p:sp>
      <p:sp>
        <p:nvSpPr>
          <p:cNvPr id="200" name="Google Shape;200;g3d6c73ab93a_0_6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6c73ab93a_0_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d6c73ab93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JEAN</a:t>
            </a:r>
            <a:endParaRPr/>
          </a:p>
        </p:txBody>
      </p:sp>
      <p:sp>
        <p:nvSpPr>
          <p:cNvPr id="206" name="Google Shape;206;g3d6c73ab93a_0_5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JEAN</a:t>
            </a:r>
            <a:endParaRPr/>
          </a:p>
        </p:txBody>
      </p:sp>
      <p:sp>
        <p:nvSpPr>
          <p:cNvPr id="212" name="Google Shape;21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/>
        </p:nvSpPr>
        <p:spPr>
          <a:xfrm>
            <a:off x="685800" y="4038600"/>
            <a:ext cx="777240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Presenter NAME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1371600" y="4408488"/>
            <a:ext cx="64008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 b="0" i="1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>
            <p:ph type="ctrTitle"/>
          </p:nvPr>
        </p:nvSpPr>
        <p:spPr>
          <a:xfrm>
            <a:off x="685800" y="12192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685800" y="268922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0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85800" y="9906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685800" y="18288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685800" y="9906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685800" y="1828800"/>
            <a:ext cx="3886200" cy="4297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2" type="body"/>
          </p:nvPr>
        </p:nvSpPr>
        <p:spPr>
          <a:xfrm>
            <a:off x="4800600" y="1828800"/>
            <a:ext cx="3886200" cy="4297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685800" y="9906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685800" y="9906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684212" y="1828799"/>
            <a:ext cx="3887788" cy="7620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7"/>
          <p:cNvSpPr txBox="1"/>
          <p:nvPr>
            <p:ph idx="2" type="body"/>
          </p:nvPr>
        </p:nvSpPr>
        <p:spPr>
          <a:xfrm>
            <a:off x="684212" y="2590799"/>
            <a:ext cx="3887788" cy="3535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7"/>
          <p:cNvSpPr txBox="1"/>
          <p:nvPr>
            <p:ph idx="3" type="body"/>
          </p:nvPr>
        </p:nvSpPr>
        <p:spPr>
          <a:xfrm>
            <a:off x="4797425" y="1828798"/>
            <a:ext cx="3889375" cy="7620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7"/>
          <p:cNvSpPr txBox="1"/>
          <p:nvPr>
            <p:ph idx="4" type="body"/>
          </p:nvPr>
        </p:nvSpPr>
        <p:spPr>
          <a:xfrm>
            <a:off x="4797425" y="2590799"/>
            <a:ext cx="3889375" cy="3535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457200" y="83820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3575050" y="838200"/>
            <a:ext cx="5111750" cy="528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57200" y="2000251"/>
            <a:ext cx="3008313" cy="41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1792288" y="5026025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10"/>
          <p:cNvSpPr/>
          <p:nvPr>
            <p:ph idx="2" type="pic"/>
          </p:nvPr>
        </p:nvSpPr>
        <p:spPr>
          <a:xfrm>
            <a:off x="914400" y="838200"/>
            <a:ext cx="7242176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1792288" y="5592763"/>
            <a:ext cx="54864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685800" y="9906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 rot="5400000">
            <a:off x="2667000" y="-152400"/>
            <a:ext cx="42672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 rot="5400000">
            <a:off x="5204618" y="2643982"/>
            <a:ext cx="5211763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 rot="5400000">
            <a:off x="1013618" y="357981"/>
            <a:ext cx="5211763" cy="6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85800" y="9906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85800" y="18288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physionet.org/content/challenge-2012/1.0.0/" TargetMode="External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cinc.org/archives/2012/pdf/0249.pdf" TargetMode="External"/><Relationship Id="rId4" Type="http://schemas.openxmlformats.org/officeDocument/2006/relationships/hyperlink" Target="https://physionet.org/content/challenge-2012/1.0.0/" TargetMode="External"/><Relationship Id="rId5" Type="http://schemas.openxmlformats.org/officeDocument/2006/relationships/hyperlink" Target="https://archive.ph/SRnvM#selection-251.0-251.56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685800" y="3717825"/>
            <a:ext cx="7772400" cy="16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by: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Jean Luis Urena  – ju5366@rit.edu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Jhanavi Lingamneni – jl7903@rit.edu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Sarvesh Kapil Pathak – sp5953@rit.edu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685800" y="18777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85"/>
              <a:buFont typeface="Arial"/>
              <a:buNone/>
            </a:pPr>
            <a:r>
              <a:rPr b="1" lang="en-US" sz="4185"/>
              <a:t>ICU Patient Risk </a:t>
            </a:r>
            <a:endParaRPr b="1" sz="4185"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85"/>
              <a:buFont typeface="Arial"/>
              <a:buNone/>
            </a:pPr>
            <a:r>
              <a:rPr b="1" lang="en-US" sz="4185"/>
              <a:t>Assessment</a:t>
            </a:r>
            <a:endParaRPr b="1" sz="4185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685800" y="9906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PROBLEM STATEMENT </a:t>
            </a:r>
            <a:endParaRPr b="1" i="0" sz="3200" u="none" cap="none" strike="noStrike">
              <a:solidFill>
                <a:schemeClr val="dk1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109675" y="1828800"/>
            <a:ext cx="8936100" cy="47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Predicting mortality in ICU patients is crucial for evaluating healthcare outcomes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ICU data - </a:t>
            </a:r>
            <a:r>
              <a:rPr b="1" lang="en-US" sz="1800"/>
              <a:t>vital signs, lab results, and demographics</a:t>
            </a:r>
            <a:r>
              <a:rPr lang="en-US" sz="1800"/>
              <a:t> collected over time</a:t>
            </a:r>
            <a:endParaRPr b="1"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Difficult to </a:t>
            </a:r>
            <a:r>
              <a:rPr b="1" lang="en-US" sz="1800"/>
              <a:t>identify high-risk patients early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Traditional methods (APACHE, SAPS-II) focus on </a:t>
            </a:r>
            <a:r>
              <a:rPr b="1" lang="en-US" sz="1800"/>
              <a:t>group-level analysis</a:t>
            </a:r>
            <a:r>
              <a:rPr lang="en-US" sz="1800"/>
              <a:t>, not individuals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Missing critical patients (</a:t>
            </a:r>
            <a:r>
              <a:rPr b="1" lang="en-US" sz="1800"/>
              <a:t>false negatives</a:t>
            </a:r>
            <a:r>
              <a:rPr lang="en-US" sz="1800"/>
              <a:t>) can be life-threatening </a:t>
            </a:r>
            <a:endParaRPr sz="1800"/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685800" y="9906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HYPOTHESIS</a:t>
            </a:r>
            <a:r>
              <a:rPr b="1" lang="en-US"/>
              <a:t> </a:t>
            </a:r>
            <a:endParaRPr b="1" i="0" sz="3200" u="none" cap="none" strike="noStrike">
              <a:solidFill>
                <a:schemeClr val="dk1"/>
              </a:solidFill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109675" y="1828800"/>
            <a:ext cx="8936100" cy="47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Early ICU data contains enough clinical information to predict mortality risk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Machine learning models can identify high-risk patients more effectively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Improving recall can help reduce missed critical cases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final prediction - RISK or NO RISK</a:t>
            </a:r>
            <a:endParaRPr sz="1800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685800" y="9906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DATASET OVERVIEW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193500" y="1551463"/>
            <a:ext cx="8757000" cy="495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SzPts val="1800"/>
              <a:buChar char="•"/>
            </a:pPr>
            <a:r>
              <a:rPr lang="en-US" sz="1800" u="sng">
                <a:solidFill>
                  <a:schemeClr val="hlink"/>
                </a:solidFill>
                <a:hlinkClick r:id="rId3"/>
              </a:rPr>
              <a:t> The PhysioNet  Challenge 2012 Dataset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ICU patient data collected over </a:t>
            </a:r>
            <a:r>
              <a:rPr b="1" lang="en-US" sz="1800"/>
              <a:t>first 48 hours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Used for predicting </a:t>
            </a:r>
            <a:r>
              <a:rPr b="1" lang="en-US" sz="1800"/>
              <a:t>in-hospital mortality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Real-world clinical dataset from hospitals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Total patients: </a:t>
            </a:r>
            <a:r>
              <a:rPr b="1" lang="en-US" sz="1800"/>
              <a:t>12,000</a:t>
            </a:r>
            <a:endParaRPr b="1" sz="1800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Each patient stored as a </a:t>
            </a:r>
            <a:r>
              <a:rPr b="1" lang="en-US" sz="1800"/>
              <a:t>separate file</a:t>
            </a:r>
            <a:endParaRPr b="1" sz="1800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 3 columns - Time, Parameter, Value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37 clinical variables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Irregular sampling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Missing values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Imbalanced dataset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Target Variable </a:t>
            </a:r>
            <a:endParaRPr b="1" sz="1800">
              <a:solidFill>
                <a:srgbClr val="000000"/>
              </a:solidFill>
            </a:endParaRPr>
          </a:p>
          <a:p>
            <a:pPr indent="-342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0 - Survived</a:t>
            </a:r>
            <a:endParaRPr sz="1800">
              <a:solidFill>
                <a:srgbClr val="000000"/>
              </a:solidFill>
            </a:endParaRPr>
          </a:p>
          <a:p>
            <a:pPr indent="-342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1 - Died</a:t>
            </a:r>
            <a:endParaRPr sz="18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74" name="Google Shape;74;p16"/>
          <p:cNvPicPr preferRelativeResize="0"/>
          <p:nvPr/>
        </p:nvPicPr>
        <p:blipFill rotWithShape="1">
          <a:blip r:embed="rId4">
            <a:alphaModFix/>
          </a:blip>
          <a:srcRect b="14914" l="5676" r="27546" t="3990"/>
          <a:stretch/>
        </p:blipFill>
        <p:spPr>
          <a:xfrm>
            <a:off x="5876275" y="1883188"/>
            <a:ext cx="2771250" cy="429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685800" y="990600"/>
            <a:ext cx="8229600" cy="59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Preprocessing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242100" y="1586975"/>
            <a:ext cx="3887700" cy="414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Before</a:t>
            </a:r>
            <a:endParaRPr/>
          </a:p>
        </p:txBody>
      </p:sp>
      <p:sp>
        <p:nvSpPr>
          <p:cNvPr id="82" name="Google Shape;82;p17"/>
          <p:cNvSpPr txBox="1"/>
          <p:nvPr>
            <p:ph idx="2" type="body"/>
          </p:nvPr>
        </p:nvSpPr>
        <p:spPr>
          <a:xfrm>
            <a:off x="242100" y="2063075"/>
            <a:ext cx="3169800" cy="406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Timeseries dataset with 43 columns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Some categorical values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Large variance in numbered values of vitals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3" type="body"/>
          </p:nvPr>
        </p:nvSpPr>
        <p:spPr>
          <a:xfrm>
            <a:off x="5026050" y="1586974"/>
            <a:ext cx="3889500" cy="414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After</a:t>
            </a:r>
            <a:endParaRPr/>
          </a:p>
        </p:txBody>
      </p:sp>
      <p:sp>
        <p:nvSpPr>
          <p:cNvPr id="84" name="Google Shape;84;p17"/>
          <p:cNvSpPr txBox="1"/>
          <p:nvPr>
            <p:ph idx="4" type="body"/>
          </p:nvPr>
        </p:nvSpPr>
        <p:spPr>
          <a:xfrm>
            <a:off x="5461950" y="2001275"/>
            <a:ext cx="3453600" cy="412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2D tabular dataset with aggregated columns (369 features)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/>
              <a:t>LSTM retained 3D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One-Hot encoded categorical values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Normalized numerical values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Median </a:t>
            </a:r>
            <a:r>
              <a:rPr lang="en-US"/>
              <a:t>imputated</a:t>
            </a:r>
            <a:r>
              <a:rPr lang="en-US"/>
              <a:t> NaN values </a:t>
            </a:r>
            <a:endParaRPr/>
          </a:p>
        </p:txBody>
      </p:sp>
      <p:pic>
        <p:nvPicPr>
          <p:cNvPr descr="Automation icon vector. Isolated contour symbol illustration (Provided by Getty Images)"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2602" y="3485936"/>
            <a:ext cx="1745249" cy="174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457200" y="1005725"/>
            <a:ext cx="8229600" cy="99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Preprocessing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457200" y="1598299"/>
            <a:ext cx="8229600" cy="5063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9100" lvl="0" marL="457200" rtl="0" algn="l">
              <a:spcBef>
                <a:spcPts val="560"/>
              </a:spcBef>
              <a:spcAft>
                <a:spcPts val="0"/>
              </a:spcAft>
              <a:buSzPts val="3000"/>
              <a:buChar char="●"/>
            </a:pPr>
            <a:r>
              <a:rPr lang="en-US" sz="2100"/>
              <a:t>Raw data is 48 hours of irregular (Time, Parameter, Value) measurements per patient — pivoted into a wide table with vitals as columns</a:t>
            </a:r>
            <a:endParaRPr sz="21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2100"/>
              <a:t>Each vital aggregated into 10 summary features: mean, median, min, max, std, first, last, delta, range, and a "missing" flag</a:t>
            </a:r>
            <a:endParaRPr sz="21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2100"/>
              <a:t>-1 placeholder values replaced with Nan; missing values filled with median (or mode for Gender)</a:t>
            </a:r>
            <a:endParaRPr sz="21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2100"/>
              <a:t>Final shape: </a:t>
            </a:r>
            <a:r>
              <a:rPr b="1" lang="en-US" sz="2100"/>
              <a:t>369 features per patient</a:t>
            </a:r>
            <a:endParaRPr sz="21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2100"/>
              <a:t>Standard Scaler fit on training only; splits follow official challenge (set-a = train, set-c = validation, set-b = test)</a:t>
            </a:r>
            <a:endParaRPr sz="3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457200" y="1005725"/>
            <a:ext cx="8229600" cy="99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Preprocessing</a:t>
            </a:r>
            <a:endParaRPr/>
          </a:p>
        </p:txBody>
      </p:sp>
      <p:pic>
        <p:nvPicPr>
          <p:cNvPr id="99" name="Google Shape;99;p19"/>
          <p:cNvPicPr preferRelativeResize="0"/>
          <p:nvPr/>
        </p:nvPicPr>
        <p:blipFill rotWithShape="1">
          <a:blip r:embed="rId3">
            <a:alphaModFix/>
          </a:blip>
          <a:srcRect b="0" l="0" r="8784" t="18401"/>
          <a:stretch/>
        </p:blipFill>
        <p:spPr>
          <a:xfrm>
            <a:off x="3316875" y="2999550"/>
            <a:ext cx="5180602" cy="14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/>
          <p:cNvPicPr preferRelativeResize="0"/>
          <p:nvPr/>
        </p:nvPicPr>
        <p:blipFill rotWithShape="1">
          <a:blip r:embed="rId4">
            <a:alphaModFix/>
          </a:blip>
          <a:srcRect b="14914" l="5676" r="27546" t="3990"/>
          <a:stretch/>
        </p:blipFill>
        <p:spPr>
          <a:xfrm>
            <a:off x="236900" y="1779725"/>
            <a:ext cx="2699225" cy="4183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685800" y="990600"/>
            <a:ext cx="8229600" cy="83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Method</a:t>
            </a:r>
            <a:endParaRPr/>
          </a:p>
        </p:txBody>
      </p:sp>
      <p:pic>
        <p:nvPicPr>
          <p:cNvPr id="107" name="Google Shape;107;p20" title="2026-04-20_13-53-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763" y="1828800"/>
            <a:ext cx="7448479" cy="472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685800" y="990600"/>
            <a:ext cx="8229600" cy="83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Models</a:t>
            </a:r>
            <a:endParaRPr/>
          </a:p>
        </p:txBody>
      </p:sp>
      <p:pic>
        <p:nvPicPr>
          <p:cNvPr id="114" name="Google Shape;114;p21" title="ann_imag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76" y="3234350"/>
            <a:ext cx="2005050" cy="200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 txBox="1"/>
          <p:nvPr/>
        </p:nvSpPr>
        <p:spPr>
          <a:xfrm>
            <a:off x="829000" y="1884650"/>
            <a:ext cx="2005200" cy="13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Multi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Layer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Perceptron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16" name="Google Shape;116;p21"/>
          <p:cNvSpPr txBox="1"/>
          <p:nvPr/>
        </p:nvSpPr>
        <p:spPr>
          <a:xfrm>
            <a:off x="3663350" y="1884650"/>
            <a:ext cx="1830900" cy="13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Long ShortTerm Memory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117" name="Google Shape;117;p21" title="lstm_imag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3626" y="3290200"/>
            <a:ext cx="2453949" cy="1808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 txBox="1"/>
          <p:nvPr/>
        </p:nvSpPr>
        <p:spPr>
          <a:xfrm>
            <a:off x="6398575" y="1969850"/>
            <a:ext cx="1830900" cy="12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Gradient Boosting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119" name="Google Shape;119;p21" title="gradient_boosting_imag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98575" y="3522500"/>
            <a:ext cx="2142476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457200" y="797607"/>
            <a:ext cx="8229600" cy="577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MLP</a:t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685800" y="1568074"/>
            <a:ext cx="8229600" cy="5063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56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Good with large and complex non-linear data, like that of this dataset of vitals from an ICU.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Hyperparameters set using RandomizedSearchCV.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MLP is very flexible with regularization techniques to prevent overfitting, which in turn also improves generalization.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Regularizers: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/>
              <a:t>EarlyStopping – Prevent overfitting</a:t>
            </a:r>
            <a:endParaRPr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/>
              <a:t>L2 – Prevent overfitting by adding penalties</a:t>
            </a:r>
            <a:endParaRPr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/>
              <a:t>Dropout – Prevent overfitting</a:t>
            </a:r>
            <a:endParaRPr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/>
              <a:t>BatchNormalization – Stabalize inputs with normalization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000"/>
              <a:t>Calibration &amp; Balance was required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000"/>
              <a:t>IsotonicRegression – Smoothes trend after processing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000"/>
              <a:t>Class Weights – To balance dataset imbalance and preserve true dataset distribution</a:t>
            </a:r>
            <a:r>
              <a:rPr lang="en-US"/>
              <a:t>	</a:t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1386450" y="1250850"/>
            <a:ext cx="68283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Tensorflow + Keras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685800" y="9906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Multi-Layer Perceptron (MLP)</a:t>
            </a:r>
            <a:endParaRPr sz="2200"/>
          </a:p>
        </p:txBody>
      </p:sp>
      <p:pic>
        <p:nvPicPr>
          <p:cNvPr id="133" name="Google Shape;133;p23" title="ann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400625"/>
            <a:ext cx="5079050" cy="1463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3" title="ann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594048"/>
            <a:ext cx="5079052" cy="1391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3" title="ann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0825" y="4406102"/>
            <a:ext cx="3630500" cy="2001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3" title="ann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70837" y="2060557"/>
            <a:ext cx="3630487" cy="2001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685800" y="990600"/>
            <a:ext cx="8229600" cy="99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Long Short-Term Memory (LSTM) </a:t>
            </a:r>
            <a:br>
              <a:rPr lang="en-US"/>
            </a:br>
            <a:endParaRPr/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150100" y="1570175"/>
            <a:ext cx="8765400" cy="493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Designed for </a:t>
            </a:r>
            <a:r>
              <a:rPr b="1" lang="en-US" sz="1800"/>
              <a:t>sequential / time-series data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Captures </a:t>
            </a:r>
            <a:r>
              <a:rPr b="1" lang="en-US" sz="1800"/>
              <a:t>temporal dependencies</a:t>
            </a:r>
            <a:r>
              <a:rPr lang="en-US" sz="1800"/>
              <a:t> using memory cells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Input reshaped from </a:t>
            </a:r>
            <a:r>
              <a:rPr b="1" lang="en-US" sz="1800"/>
              <a:t>2D → 3D (samples, timesteps, features)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Used to model relationships across patient vitals</a:t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050" y="5496125"/>
            <a:ext cx="8191500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050" y="3071225"/>
            <a:ext cx="8191501" cy="229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685800" y="990600"/>
            <a:ext cx="8229600" cy="99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LSTM Architecture</a:t>
            </a:r>
            <a:br>
              <a:rPr lang="en-US"/>
            </a:br>
            <a:endParaRPr/>
          </a:p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150100" y="1570175"/>
            <a:ext cx="4808700" cy="493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uses gating mechanisms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ReduceLROnPlateau - automatically reduces learning rate when the model stops improving.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Activation Functions : Sigmoid, ReLU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Learning rate: 0.0003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threshold = 0.23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Used class weights</a:t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6925" y="2182088"/>
            <a:ext cx="3718475" cy="249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685800" y="9906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LSTM</a:t>
            </a:r>
            <a:endParaRPr sz="2200"/>
          </a:p>
        </p:txBody>
      </p:sp>
      <p:pic>
        <p:nvPicPr>
          <p:cNvPr id="159" name="Google Shape;15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81200"/>
            <a:ext cx="5043673" cy="16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142325"/>
            <a:ext cx="5043675" cy="16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67325" y="4142325"/>
            <a:ext cx="3548050" cy="1955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67325" y="1828800"/>
            <a:ext cx="3548075" cy="1955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685800" y="990600"/>
            <a:ext cx="8229600" cy="99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Gradient Boosting</a:t>
            </a:r>
            <a:endParaRPr/>
          </a:p>
        </p:txBody>
      </p:sp>
      <p:pic>
        <p:nvPicPr>
          <p:cNvPr id="169" name="Google Shape;16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450" y="1750050"/>
            <a:ext cx="6691100" cy="3924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type="title"/>
          </p:nvPr>
        </p:nvSpPr>
        <p:spPr>
          <a:xfrm>
            <a:off x="685800" y="990600"/>
            <a:ext cx="8229600" cy="99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Gradient Boosting</a:t>
            </a:r>
            <a:endParaRPr/>
          </a:p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5800" y="1674325"/>
            <a:ext cx="8229600" cy="426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/>
              <a:t>Enemble method that builds 500 shallow decision trees sequentially, where each new tree corrects the errors of the previous ones</a:t>
            </a:r>
            <a:endParaRPr sz="1300"/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/>
              <a:t>Hyperparameters tuned via GridSearchCV:</a:t>
            </a:r>
            <a:endParaRPr sz="1300"/>
          </a:p>
          <a:p>
            <a:pPr indent="-260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500"/>
              <a:buChar char="●"/>
            </a:pPr>
            <a:r>
              <a:rPr lang="en-US" sz="1300"/>
              <a:t>Learning rate: 0.03 (small steps prevent overfitting)</a:t>
            </a:r>
            <a:endParaRPr sz="1300"/>
          </a:p>
          <a:p>
            <a:pPr indent="-260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00"/>
              <a:buChar char="●"/>
            </a:pPr>
            <a:r>
              <a:rPr lang="en-US" sz="1300"/>
              <a:t>Max depth: 4 (shallow "weak learner" trees)</a:t>
            </a:r>
            <a:endParaRPr sz="1300"/>
          </a:p>
          <a:p>
            <a:pPr indent="-260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00"/>
              <a:buChar char="●"/>
            </a:pPr>
            <a:r>
              <a:rPr lang="en-US" sz="1300"/>
              <a:t>N estimators: 500 (trees in the ensemble)</a:t>
            </a:r>
            <a:endParaRPr sz="1300"/>
          </a:p>
          <a:p>
            <a:pPr indent="-260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00"/>
              <a:buChar char="●"/>
            </a:pPr>
            <a:r>
              <a:rPr lang="en-US" sz="1300"/>
              <a:t>Subsample: 1.0 (each tree trained on 100% of data — adds regularization)</a:t>
            </a:r>
            <a:endParaRPr sz="1300"/>
          </a:p>
          <a:p>
            <a:pPr indent="-260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00"/>
              <a:buChar char="●"/>
            </a:pPr>
            <a:r>
              <a:rPr lang="en-US" sz="1300"/>
              <a:t>Max features: sqrt (random feature subset per split)</a:t>
            </a:r>
            <a:endParaRPr sz="1300"/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Char char="●"/>
            </a:pPr>
            <a:r>
              <a:rPr lang="en-US" sz="1300"/>
              <a:t>Min samples leaf: 5 (prevents overly specific splits)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/>
              <a:t>Trained on the full dataset — no undersampling, since more data improved performance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/>
              <a:t>Decision threshold lowered to 0.23 to catch more at-risk patients (prioritizing recall over precision for ICU safety)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00"/>
              <a:t>Results on test set: 69% accuracy, 67% recall on death class, SE1 score of 0.48 — close to the 2012 PhysioNet challenge winner (0.53)</a:t>
            </a:r>
            <a:endParaRPr sz="1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685800" y="9906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Gradient Boosting</a:t>
            </a:r>
            <a:endParaRPr sz="2200"/>
          </a:p>
        </p:txBody>
      </p:sp>
      <p:pic>
        <p:nvPicPr>
          <p:cNvPr id="182" name="Google Shape;182;p29"/>
          <p:cNvPicPr preferRelativeResize="0"/>
          <p:nvPr/>
        </p:nvPicPr>
        <p:blipFill rotWithShape="1">
          <a:blip r:embed="rId3">
            <a:alphaModFix/>
          </a:blip>
          <a:srcRect b="0" l="1546" r="0" t="0"/>
          <a:stretch/>
        </p:blipFill>
        <p:spPr>
          <a:xfrm>
            <a:off x="5255000" y="1899950"/>
            <a:ext cx="3484900" cy="1943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350" y="2207038"/>
            <a:ext cx="4970425" cy="1527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2450" y="4383915"/>
            <a:ext cx="3201119" cy="175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9"/>
          <p:cNvPicPr preferRelativeResize="0"/>
          <p:nvPr/>
        </p:nvPicPr>
        <p:blipFill rotWithShape="1">
          <a:blip r:embed="rId6">
            <a:alphaModFix/>
          </a:blip>
          <a:srcRect b="0" l="517" r="0" t="0"/>
          <a:stretch/>
        </p:blipFill>
        <p:spPr>
          <a:xfrm>
            <a:off x="310300" y="4546400"/>
            <a:ext cx="4944700" cy="142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685800" y="990600"/>
            <a:ext cx="8229600" cy="83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 Comparison</a:t>
            </a:r>
            <a:endParaRPr/>
          </a:p>
        </p:txBody>
      </p:sp>
      <p:pic>
        <p:nvPicPr>
          <p:cNvPr id="192" name="Google Shape;192;p30" title="comparison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525" y="1618475"/>
            <a:ext cx="7558952" cy="21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0"/>
          <p:cNvSpPr txBox="1"/>
          <p:nvPr>
            <p:ph type="title"/>
          </p:nvPr>
        </p:nvSpPr>
        <p:spPr>
          <a:xfrm>
            <a:off x="633827" y="3865525"/>
            <a:ext cx="8229600" cy="5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Challenge Comparison</a:t>
            </a:r>
            <a:endParaRPr/>
          </a:p>
        </p:txBody>
      </p:sp>
      <p:graphicFrame>
        <p:nvGraphicFramePr>
          <p:cNvPr id="194" name="Google Shape;194;p30"/>
          <p:cNvGraphicFramePr/>
          <p:nvPr/>
        </p:nvGraphicFramePr>
        <p:xfrm>
          <a:off x="685800" y="4574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{2BA4EDA8-C76A-408F-9246-3DA719983473}</a:tableStyleId>
              </a:tblPr>
              <a:tblGrid>
                <a:gridCol w="1277625"/>
                <a:gridCol w="1277625"/>
                <a:gridCol w="1277625"/>
                <a:gridCol w="1277625"/>
                <a:gridCol w="1277625"/>
                <a:gridCol w="1277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Winner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Contestant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Jean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Jhanavi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Sarvesh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0.39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26.44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55.90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19.71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54.66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Model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Bayesian Ensemble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MLP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MLP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LSTM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Gradient Boosting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95" name="Google Shape;195;p30" title="2026-04-20_10-22-3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850" y="5087148"/>
            <a:ext cx="1169772" cy="17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0" title="2026-04-20_10-24-1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1850" y="5378769"/>
            <a:ext cx="842183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>
            <p:ph type="title"/>
          </p:nvPr>
        </p:nvSpPr>
        <p:spPr>
          <a:xfrm>
            <a:off x="685800" y="3074400"/>
            <a:ext cx="7772400" cy="70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685800" y="990600"/>
            <a:ext cx="8229600" cy="83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Acknowledgements and References</a:t>
            </a:r>
            <a:endParaRPr/>
          </a:p>
        </p:txBody>
      </p:sp>
      <p:sp>
        <p:nvSpPr>
          <p:cNvPr id="209" name="Google Shape;209;p32"/>
          <p:cNvSpPr txBox="1"/>
          <p:nvPr>
            <p:ph idx="1" type="body"/>
          </p:nvPr>
        </p:nvSpPr>
        <p:spPr>
          <a:xfrm>
            <a:off x="685800" y="1828800"/>
            <a:ext cx="8229600" cy="426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560"/>
              </a:spcBef>
              <a:spcAft>
                <a:spcPts val="0"/>
              </a:spcAft>
              <a:buSzPts val="2800"/>
              <a:buChar char="●"/>
            </a:pPr>
            <a:r>
              <a:rPr lang="en-US"/>
              <a:t>Physionet – For providing the uncleaned dataset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https://www.cinc.org/archives/2012/pdf/0249.pdf</a:t>
            </a:r>
            <a:r>
              <a:rPr lang="en-US"/>
              <a:t> 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https://physionet.org/content/challenge-2012/1.0.0/</a:t>
            </a:r>
            <a:r>
              <a:rPr lang="en-US"/>
              <a:t> 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/>
              <a:t>A Simple Guide to Choosing the Right ML Model Every Time –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https://archive.ph/SRnvM</a:t>
            </a:r>
            <a:r>
              <a:rPr lang="en-US"/>
              <a:t> </a:t>
            </a:r>
            <a:endParaRPr/>
          </a:p>
          <a:p>
            <a:pPr indent="0" lvl="0" marL="45720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>
            <p:ph type="title"/>
          </p:nvPr>
        </p:nvSpPr>
        <p:spPr>
          <a:xfrm>
            <a:off x="304800" y="3200400"/>
            <a:ext cx="8610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Questions?</a:t>
            </a:r>
            <a:endParaRPr sz="2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ebConferencingWorkshop">
  <a:themeElements>
    <a:clrScheme name="Custom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C0504D"/>
      </a:accent1>
      <a:accent2>
        <a:srgbClr val="D99694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